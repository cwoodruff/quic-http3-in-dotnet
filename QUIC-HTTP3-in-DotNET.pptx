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1.xml" ContentType="application/vnd.openxmlformats-officedocument.drawingml.char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82" r:id="rId2"/>
    <p:sldId id="256" r:id="rId3"/>
    <p:sldId id="257" r:id="rId4"/>
    <p:sldId id="258" r:id="rId5"/>
    <p:sldId id="283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49"/>
    <p:restoredTop sz="94610"/>
  </p:normalViewPr>
  <p:slideViewPr>
    <p:cSldViewPr snapToGrid="0" snapToObjects="1">
      <p:cViewPr varScale="1">
        <p:scale>
          <a:sx n="212" d="100"/>
          <a:sy n="212" d="100"/>
        </p:scale>
        <p:origin x="496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426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0B1426"/>
                </a:solidFill>
                <a:latin typeface="Calibri"/>
              </a:rPr>
              <a:t>Time to complete 50 concurrent requests (ms)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HTTP/2 (TCP)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No loss</c:v>
                </c:pt>
                <c:pt idx="1">
                  <c:v>1% loss</c:v>
                </c:pt>
                <c:pt idx="2">
                  <c:v>5% loss</c:v>
                </c:pt>
                <c:pt idx="3">
                  <c:v>Network switch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240</c:v>
                </c:pt>
                <c:pt idx="1">
                  <c:v>410</c:v>
                </c:pt>
                <c:pt idx="2">
                  <c:v>880</c:v>
                </c:pt>
                <c:pt idx="3">
                  <c:v>1500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D7-8B43-907B-FF8D220937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HTTP/3 (QUIC)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No loss</c:v>
                </c:pt>
                <c:pt idx="1">
                  <c:v>1% loss</c:v>
                </c:pt>
                <c:pt idx="2">
                  <c:v>5% loss</c:v>
                </c:pt>
                <c:pt idx="3">
                  <c:v>Network switch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180</c:v>
                </c:pt>
                <c:pt idx="1">
                  <c:v>220</c:v>
                </c:pt>
                <c:pt idx="2">
                  <c:v>340</c:v>
                </c:pt>
                <c:pt idx="3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3D7-8B43-907B-FF8D220937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0185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-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ázek 8" descr="Obsah obrázku hák, design&#10;&#10;Popis byl vytvořen automaticky">
            <a:extLst>
              <a:ext uri="{FF2B5EF4-FFF2-40B4-BE49-F238E27FC236}">
                <a16:creationId xmlns:a16="http://schemas.microsoft.com/office/drawing/2014/main" id="{B217928E-1BCD-57AB-E15F-107279254F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A59116E4-6F6A-4236-B205-7EBF81DEDD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8651" y="1646265"/>
            <a:ext cx="4071443" cy="628675"/>
          </a:xfrm>
        </p:spPr>
        <p:txBody>
          <a:bodyPr anchor="ctr">
            <a:noAutofit/>
          </a:bodyPr>
          <a:lstStyle>
            <a:lvl1pPr algn="l">
              <a:defRPr sz="3300">
                <a:solidFill>
                  <a:schemeClr val="bg1"/>
                </a:solidFill>
                <a:latin typeface="Aptos SemiBold" panose="020B0004020202020204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US" dirty="0"/>
              <a:t>Type your </a:t>
            </a:r>
            <a:r>
              <a:rPr lang="en-US" dirty="0" err="1"/>
              <a:t>ti</a:t>
            </a:r>
            <a:r>
              <a:rPr lang="cs-CZ" dirty="0"/>
              <a:t>t</a:t>
            </a:r>
            <a:r>
              <a:rPr lang="en-US" dirty="0"/>
              <a:t>le here</a:t>
            </a:r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CD1CE4D-5AA3-4F8D-BB4D-E04B1498F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6" name="Zástupný text 13">
            <a:extLst>
              <a:ext uri="{FF2B5EF4-FFF2-40B4-BE49-F238E27FC236}">
                <a16:creationId xmlns:a16="http://schemas.microsoft.com/office/drawing/2014/main" id="{845418B6-3F48-4BB3-95CD-B33ACDC2F1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1032" y="3573674"/>
            <a:ext cx="4068985" cy="366105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rgbClr val="FDAD00"/>
                </a:solidFill>
                <a:latin typeface="Aptos SemiBold" panose="020B0004020202020204" pitchFamily="34" charset="0"/>
              </a:defRPr>
            </a:lvl1pPr>
          </a:lstStyle>
          <a:p>
            <a:pPr lvl="0"/>
            <a:r>
              <a:rPr lang="cs-CZ" dirty="0"/>
              <a:t>Name</a:t>
            </a:r>
          </a:p>
        </p:txBody>
      </p:sp>
      <p:sp>
        <p:nvSpPr>
          <p:cNvPr id="13" name="Zástupný text 11">
            <a:extLst>
              <a:ext uri="{FF2B5EF4-FFF2-40B4-BE49-F238E27FC236}">
                <a16:creationId xmlns:a16="http://schemas.microsoft.com/office/drawing/2014/main" id="{966569C8-862A-4685-AF99-952DCD94AD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8650" y="4000670"/>
            <a:ext cx="4068985" cy="628675"/>
          </a:xfrm>
        </p:spPr>
        <p:txBody>
          <a:bodyPr anchor="t">
            <a:normAutofit/>
          </a:bodyPr>
          <a:lstStyle>
            <a:lvl1pPr marL="0" indent="0">
              <a:buNone/>
              <a:defRPr sz="15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E2774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Job title, Company</a:t>
            </a:r>
            <a:endParaRPr lang="cs-CZ" dirty="0"/>
          </a:p>
        </p:txBody>
      </p:sp>
      <p:sp>
        <p:nvSpPr>
          <p:cNvPr id="11" name="Zástupný text 10">
            <a:extLst>
              <a:ext uri="{FF2B5EF4-FFF2-40B4-BE49-F238E27FC236}">
                <a16:creationId xmlns:a16="http://schemas.microsoft.com/office/drawing/2014/main" id="{AD69D3F0-602C-E074-5180-B4AF8F42B79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8650" y="2390906"/>
            <a:ext cx="4071938" cy="533400"/>
          </a:xfrm>
          <a:noFill/>
          <a:ln>
            <a:noFill/>
          </a:ln>
        </p:spPr>
        <p:txBody>
          <a:bodyPr/>
          <a:lstStyle>
            <a:lvl1pPr marL="0" indent="0">
              <a:buNone/>
              <a:defRPr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cs-CZ" dirty="0" err="1"/>
              <a:t>Lorem</a:t>
            </a:r>
            <a:r>
              <a:rPr lang="cs-CZ" dirty="0"/>
              <a:t> </a:t>
            </a:r>
            <a:r>
              <a:rPr lang="cs-CZ" dirty="0" err="1"/>
              <a:t>Ipsum</a:t>
            </a:r>
            <a:endParaRPr lang="cs-CZ" dirty="0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52F2B4B5-C848-AAA5-590E-62C955AA592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867" y="721837"/>
            <a:ext cx="2387806" cy="443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2729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Nadpis 14">
            <a:extLst>
              <a:ext uri="{FF2B5EF4-FFF2-40B4-BE49-F238E27FC236}">
                <a16:creationId xmlns:a16="http://schemas.microsoft.com/office/drawing/2014/main" id="{E390D7A5-0B4D-9FA2-299F-55B8ED8D6D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4741" y="1651317"/>
            <a:ext cx="5196229" cy="628675"/>
          </a:xfrm>
        </p:spPr>
        <p:txBody>
          <a:bodyPr/>
          <a:lstStyle/>
          <a:p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 and HTTP/3 in .NET</a:t>
            </a:r>
            <a:endParaRPr lang="cs-CZ" dirty="0"/>
          </a:p>
        </p:txBody>
      </p:sp>
      <p:sp>
        <p:nvSpPr>
          <p:cNvPr id="16" name="Zástupný text 15">
            <a:extLst>
              <a:ext uri="{FF2B5EF4-FFF2-40B4-BE49-F238E27FC236}">
                <a16:creationId xmlns:a16="http://schemas.microsoft.com/office/drawing/2014/main" id="{EAC5759F-4655-07F9-56AA-7867A39DB3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cs-CZ" dirty="0" err="1"/>
              <a:t>Founder</a:t>
            </a:r>
            <a:r>
              <a:rPr lang="cs-CZ" dirty="0"/>
              <a:t>, Woody Technology </a:t>
            </a:r>
            <a:r>
              <a:rPr lang="cs-CZ"/>
              <a:t>Studio LLC</a:t>
            </a:r>
            <a:endParaRPr lang="cs-CZ" dirty="0"/>
          </a:p>
        </p:txBody>
      </p:sp>
      <p:sp>
        <p:nvSpPr>
          <p:cNvPr id="17" name="Zástupný text 16">
            <a:extLst>
              <a:ext uri="{FF2B5EF4-FFF2-40B4-BE49-F238E27FC236}">
                <a16:creationId xmlns:a16="http://schemas.microsoft.com/office/drawing/2014/main" id="{1C98B004-3A98-773F-6A8B-7B23E8E6E82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8650" y="2390906"/>
            <a:ext cx="4549582" cy="533400"/>
          </a:xfrm>
        </p:spPr>
        <p:txBody>
          <a:bodyPr/>
          <a:lstStyle/>
          <a:p>
            <a:r>
              <a:rPr lang="en-US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Fast, Secure Networking</a:t>
            </a:r>
            <a:endParaRPr lang="en-US" dirty="0"/>
          </a:p>
          <a:p>
            <a:endParaRPr lang="cs-CZ" dirty="0"/>
          </a:p>
        </p:txBody>
      </p:sp>
      <p:sp>
        <p:nvSpPr>
          <p:cNvPr id="19" name="Zástupný text 18">
            <a:extLst>
              <a:ext uri="{FF2B5EF4-FFF2-40B4-BE49-F238E27FC236}">
                <a16:creationId xmlns:a16="http://schemas.microsoft.com/office/drawing/2014/main" id="{531531D6-3522-A791-B991-335662165F3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cs-CZ" dirty="0"/>
              <a:t>Chris Woody Woodruff</a:t>
            </a:r>
          </a:p>
        </p:txBody>
      </p:sp>
    </p:spTree>
    <p:extLst>
      <p:ext uri="{BB962C8B-B14F-4D97-AF65-F5344CB8AC3E}">
        <p14:creationId xmlns:p14="http://schemas.microsoft.com/office/powerpoint/2010/main" val="2743714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"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51598" y="-348"/>
            <a:ext cx="7092402" cy="228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</a:t>
            </a:r>
            <a:endParaRPr lang="en-US" sz="28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657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188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.NET DEVELOPER'S GUIDE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 and HTTP/3 in .NET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Fast, Secure Networking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64008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3977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 Woody Woodruff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343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Founder, Woody Technology Studio LLC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617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csharp-networking.com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TALK MATTERS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is starting to feel its age.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51760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5176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TCP's original spec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an internet that doesn't exist anymore. Built for wired terminals, not multi-network mobile devices.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554480"/>
            <a:ext cx="2651760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0" y="1554480"/>
            <a:ext cx="265176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83280" y="17830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RTT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38328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to start talking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29260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handshake + TLS negotiation before a single byte of your payload moves. Painful at high latency.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1554480"/>
            <a:ext cx="2651760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943600" y="1554480"/>
            <a:ext cx="265176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26480" y="17830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packet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12648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stall everything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26480" y="29260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HTTP/2 head-of-line blocking: lose one TCP packet and every multiplexed stream waits.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feel it. Mobile users feel it most. QUIC was designed to fix it.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 &amp; HTTP/3 in .NET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in the next 45 minutes.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20624" cy="420624"/>
          </a:xfrm>
          <a:prstGeom prst="ellipse">
            <a:avLst/>
          </a:prstGeom>
          <a:solidFill>
            <a:srgbClr val="CFFAFE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371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QUIC actually is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66420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foundation, integrated TLS 1.3, the design ideas behind it.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084832"/>
            <a:ext cx="420624" cy="420624"/>
          </a:xfrm>
          <a:prstGeom prst="ellipse">
            <a:avLst/>
          </a:prstGeom>
          <a:solidFill>
            <a:srgbClr val="CFFAFE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084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19933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 vs TCP, HTTP/3 vs HTTP/2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28600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Head-of-line blocking, handshake cost, connection migration.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706624"/>
            <a:ext cx="420624" cy="420624"/>
          </a:xfrm>
          <a:prstGeom prst="ellipse">
            <a:avLst/>
          </a:prstGeom>
          <a:solidFill>
            <a:srgbClr val="CFFAFE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2706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61518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 in .NET 8 and 10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290779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Kestrel, HttpClient, and the System.Net.Quic namespace.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328416"/>
            <a:ext cx="420624" cy="420624"/>
          </a:xfrm>
          <a:prstGeom prst="ellipse">
            <a:avLst/>
          </a:prstGeom>
          <a:solidFill>
            <a:srgbClr val="CFFAFE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3328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323697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demos and code walkthroughs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352958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QuicListener, QuicConnection, QuicStream — and a benchmark.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950208"/>
            <a:ext cx="420624" cy="420624"/>
          </a:xfrm>
          <a:prstGeom prst="ellipse">
            <a:avLst/>
          </a:prstGeom>
          <a:solidFill>
            <a:srgbClr val="CFFAFE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3950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38587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fallback, and pitfalls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43000" y="415137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HTTP/3 wins, when it falls back, how to debug it.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 &amp; HTTP/3 in .NET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AUTHOR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wrote the book on this.</a:t>
            </a:r>
            <a:endParaRPr lang="en-US" sz="3000" dirty="0"/>
          </a:p>
        </p:txBody>
      </p:sp>
      <p:pic>
        <p:nvPicPr>
          <p:cNvPr id="4" name="Image 0" descr="cover-resized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325880"/>
            <a:ext cx="2194560" cy="3291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91840" y="13258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Boundaries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329184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Programming with C# 12 and .NET 8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291840" y="233172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tour of network programming in modern .NET — sockets, HTTP, WebSockets, gRPC, SignalR, MQTT, and the complete QUIC and HTTP/3 story behind today's talk.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91840" y="3520440"/>
            <a:ext cx="5486400" cy="594360"/>
          </a:xfrm>
          <a:prstGeom prst="rect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291840" y="3520440"/>
            <a:ext cx="64008" cy="5943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474720" y="352044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this summer:  </a:t>
            </a:r>
            <a:r>
              <a:rPr lang="en-US" sz="12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updated edition for .NET 10 and C# 14.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91840" y="4370832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474720" y="42976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csharp-networking.com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91840" y="4645152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474720" y="45720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on LeanPub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 &amp; HTTP/3 in .NET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THE BASICS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QUIC?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UDP Internet Connections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transport protocol designed to replace TCP for HTTP/3. Built on UDP, but with reliability, flow control, encryption, and multiplexing built directly into the protocol — not bolted on as separate layers.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3375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 by Google, Cloudflare, and Microsoft — and shipping in .NET 8 and 10 today.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760720" y="1280160"/>
            <a:ext cx="2926080" cy="5943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760720" y="12801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HTTP/3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60720" y="1947672"/>
            <a:ext cx="2926080" cy="5943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760720" y="194767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 (with TLS 1.3)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760720" y="2615184"/>
            <a:ext cx="2926080" cy="59436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760720" y="2615184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760720" y="3282696"/>
            <a:ext cx="2926080" cy="5943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760720" y="3282696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760720" y="39502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HTTP/3 stack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 &amp; HTTP/3 in .NET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THE BASICS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QUIC's four superpowers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64008" cy="1600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548640" cy="548640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70992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600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1-RTT handshake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417320" y="203911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setup and TLS 1.3 cryptographic setup happen in a single round trip. 0-RTT on reconnects.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17720" y="1325880"/>
            <a:ext cx="402336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17720" y="1325880"/>
            <a:ext cx="64008" cy="1600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892040" y="1600200"/>
            <a:ext cx="548640" cy="548640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170992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77840" y="1600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streams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5577840" y="203911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Multiplex many streams in one connection. A lost packet in one stream doesn't stall the others.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3108960"/>
            <a:ext cx="402336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57200" y="3108960"/>
            <a:ext cx="64008" cy="1600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731520" y="3383280"/>
            <a:ext cx="548640" cy="548640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3493008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17320" y="3383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migration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1417320" y="382219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connection IDs instead of IP:port. Wi-Fi to cellular handoff happens without dropping the connection.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617720" y="3108960"/>
            <a:ext cx="402336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617720" y="3108960"/>
            <a:ext cx="64008" cy="1600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892040" y="3383280"/>
            <a:ext cx="548640" cy="548640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1768" y="3493008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77840" y="3383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is mandatory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5577840" y="382219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is built into the protocol. Headers and payload encrypted from packet one. No insecure mode exists.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 &amp; HTTP/3 in .NET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CONTEXT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got here: the HTTP timeline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63040" y="2743200"/>
            <a:ext cx="621792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44168" y="2624328"/>
            <a:ext cx="237744" cy="237744"/>
          </a:xfrm>
          <a:prstGeom prst="ellipse">
            <a:avLst/>
          </a:prstGeom>
          <a:solidFill>
            <a:srgbClr val="64748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9077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HTTP/1.0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324612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Request-response, text-based, one connection per request.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16808" y="2624328"/>
            <a:ext cx="237744" cy="237744"/>
          </a:xfrm>
          <a:prstGeom prst="ellipse">
            <a:avLst/>
          </a:prstGeom>
          <a:solidFill>
            <a:srgbClr val="64748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04160" y="2240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1997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04160" y="29077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HTTP/1.1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575560" y="324612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connections, pipelining, chunked transfer.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9448" y="2624328"/>
            <a:ext cx="237744" cy="237744"/>
          </a:xfrm>
          <a:prstGeom prst="ellipse">
            <a:avLst/>
          </a:prstGeom>
          <a:solidFill>
            <a:srgbClr val="64748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76800" y="2240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76800" y="29077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48200" y="324612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framing, multiplexing on TCP, HPACK header compression.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562088" y="2624328"/>
            <a:ext cx="237744" cy="237744"/>
          </a:xfrm>
          <a:prstGeom prst="ellipse">
            <a:avLst/>
          </a:prstGeom>
          <a:solidFill>
            <a:srgbClr val="06B6D4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49440" y="2240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49440" y="29077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720840" y="324612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QUIC. No head-of-line blocking. Integrated TLS 1.3. Connection migration.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HTTP/3 is the first version to break away from TCP — and that's the whole story.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 &amp; HTTP/3 in .NET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CONTEXT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HTTP/2 vs HTTP/3, side by side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3072384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HTTP/2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HTTP/3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 (UDP-based)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Connection setup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Multi-step (TCP + TLS)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Single-step (QUIC + TLS 1.3)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Head-of-line block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Affected by TCP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Eliminated via multiplexing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Multiplexing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Streams blocked by TCP losses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Truly independent streams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Connection migration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supported (tied to IP:port)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Supported via connection IDs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Encryption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TLS layer on top of TCP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TLS 1.3 integrated into transport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latency from TCP overhead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latency, faster setup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 &amp; HTTP/3 in .NET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CONTEXT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handshake: 3 round trips vs 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+ TLS 1.2/1.3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566160" y="1645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0" cy="219456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0" y="1920240"/>
            <a:ext cx="0" cy="219456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2057400"/>
            <a:ext cx="33832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19110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1520" y="2331720"/>
            <a:ext cx="33832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218541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SYN/ACK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2606040"/>
            <a:ext cx="33832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245973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 + ClientHello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" y="2880360"/>
            <a:ext cx="33832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27340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ServerHello + cert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" y="3154680"/>
            <a:ext cx="33832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300837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" y="3429000"/>
            <a:ext cx="33832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2960" y="32826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20" y="3749040"/>
            <a:ext cx="338328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" y="360273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(finally)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160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round trips before any payload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1280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 (TLS 1.3 built in)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54880" y="1645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863840" y="1645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0" y="1920240"/>
            <a:ext cx="0" cy="219456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412480" y="1920240"/>
            <a:ext cx="0" cy="219456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029200" y="2331720"/>
            <a:ext cx="3383280" cy="0"/>
          </a:xfrm>
          <a:prstGeom prst="line">
            <a:avLst/>
          </a:prstGeom>
          <a:noFill/>
          <a:ln w="12700">
            <a:solidFill>
              <a:srgbClr val="0E749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120640" y="218541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+ ClientHello + 0-RTT?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29200" y="2788920"/>
            <a:ext cx="3383280" cy="0"/>
          </a:xfrm>
          <a:prstGeom prst="line">
            <a:avLst/>
          </a:prstGeom>
          <a:noFill/>
          <a:ln w="12700">
            <a:solidFill>
              <a:srgbClr val="0E7490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120640" y="264261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+ ServerHello + Finished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0" y="3246120"/>
            <a:ext cx="338328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120640" y="309981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54880" y="4160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round trip — and 0-RTT on resume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 &amp; HTTP/3 in .NET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CONTEXT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head-of-line blocking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HTTP/2 over TCP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TCP byte stream carries all streams.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280160" y="2240280"/>
            <a:ext cx="411480" cy="320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783080" y="2240280"/>
            <a:ext cx="411480" cy="320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286000" y="2240280"/>
            <a:ext cx="411480" cy="320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88920" y="2240280"/>
            <a:ext cx="411480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91840" y="2240280"/>
            <a:ext cx="411480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6974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B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280160" y="2743200"/>
            <a:ext cx="41148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783080" y="2743200"/>
            <a:ext cx="41148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286000" y="2743200"/>
            <a:ext cx="411480" cy="32004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88920" y="2743200"/>
            <a:ext cx="411480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91840" y="2743200"/>
            <a:ext cx="411480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2004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C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280160" y="3246120"/>
            <a:ext cx="411480" cy="3200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783080" y="3246120"/>
            <a:ext cx="411480" cy="3200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286000" y="3246120"/>
            <a:ext cx="411480" cy="3200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88920" y="3246120"/>
            <a:ext cx="411480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91840" y="3246120"/>
            <a:ext cx="411480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3703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280160" y="3749040"/>
            <a:ext cx="411480" cy="3200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783080" y="3749040"/>
            <a:ext cx="411480" cy="3200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286000" y="3749040"/>
            <a:ext cx="411480" cy="3200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88920" y="3749040"/>
            <a:ext cx="411480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91840" y="3749040"/>
            <a:ext cx="411480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4389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one lost packet stalls every stream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0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HTTP/3 over QUIC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754880" y="1691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stream has its own loss recovery.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54880" y="21945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577840" y="2240280"/>
            <a:ext cx="411480" cy="320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080760" y="2240280"/>
            <a:ext cx="411480" cy="320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583680" y="2240280"/>
            <a:ext cx="411480" cy="320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086600" y="2240280"/>
            <a:ext cx="411480" cy="320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589520" y="2240280"/>
            <a:ext cx="411480" cy="320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54880" y="26974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B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577840" y="2743200"/>
            <a:ext cx="41148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080760" y="2743200"/>
            <a:ext cx="41148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583680" y="2743200"/>
            <a:ext cx="411480" cy="32004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086600" y="2743200"/>
            <a:ext cx="41148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7589520" y="2743200"/>
            <a:ext cx="41148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754880" y="32004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C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577840" y="3246120"/>
            <a:ext cx="411480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080760" y="3246120"/>
            <a:ext cx="411480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583680" y="3246120"/>
            <a:ext cx="411480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086600" y="3246120"/>
            <a:ext cx="411480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7589520" y="3246120"/>
            <a:ext cx="411480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754880" y="3703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D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577840" y="3749040"/>
            <a:ext cx="41148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080760" y="3749040"/>
            <a:ext cx="41148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583680" y="3749040"/>
            <a:ext cx="41148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7086600" y="3749040"/>
            <a:ext cx="41148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7589520" y="3749040"/>
            <a:ext cx="41148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754880" y="4389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only stream B retransmits; A, C, D keep flowing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 &amp; HTTP/3 in .NET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CONTEXT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migration without dropping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011680" cy="2011680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874520"/>
            <a:ext cx="9144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108960" y="137160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ties a connection to an IP and port. Change networks, lose the connection.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108960" y="205740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 uses a connection ID that travels with the client. When your phone walks out the office Wi-Fi range and switches to LTE, QUIC sees the new source address, validates it, and keeps the same streams flowing.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379476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395020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3794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calls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383280" y="379476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7872" y="395020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977640" y="3794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streaming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126480" y="379476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3950208"/>
            <a:ext cx="329184" cy="32918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720840" y="3794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API clients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 &amp; HTTP/3 in .NET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0"/>
            <a:ext cx="3657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1920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 in .NET 8 and 10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Kestrel · HttpClient · System.Net.Quic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QUIC IN .NET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pillars of System.Net.Quic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640080" cy="640080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288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468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4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QuicListener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2834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320040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Listens for incoming QUIC connections. Configure endpoint, certificate, and application protocols (e.g. "h3").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137160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291840" y="1371600"/>
            <a:ext cx="26517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566160" y="1691640"/>
            <a:ext cx="640080" cy="640080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182880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74720" y="2468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4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QuicConnection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3474720" y="2834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+ server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474720" y="320040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one QUIC connection. Manages connection migration, lifetime, and opens/accepts streams.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26480" y="137160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126480" y="1371600"/>
            <a:ext cx="26517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6400800" y="1691640"/>
            <a:ext cx="640080" cy="640080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182880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09360" y="2468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4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QuicStream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6309360" y="2834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plane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309360" y="320040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or unidirectional streams. Independent loss recovery — true parallelism over one connection.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 &amp; HTTP/3 in .NET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QUIC IN .NET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ship: HTTP/3 OS requirements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2743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6459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371600" y="20116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85800" y="242316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11 build 22000+</a:t>
            </a:r>
            <a:endParaRPr lang="en-US" sz="1100" dirty="0"/>
          </a:p>
          <a:p>
            <a:pPr marL="342900" indent="-342900">
              <a:buSzPct val="100000"/>
              <a:buChar char="●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Windows Server 2022</a:t>
            </a:r>
            <a:endParaRPr lang="en-US" sz="1100" dirty="0"/>
          </a:p>
          <a:p>
            <a:pPr marL="342900" indent="-342900">
              <a:buSzPct val="100000"/>
              <a:buChar char="●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or later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1371600"/>
            <a:ext cx="2651760" cy="2743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164592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206240" y="16459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206240" y="20116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520440" y="242316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libmsquic package required</a:t>
            </a:r>
            <a:endParaRPr lang="en-US" sz="1100" dirty="0"/>
          </a:p>
          <a:p>
            <a:pPr marL="342900" indent="-342900">
              <a:buSzPct val="100000"/>
              <a:buChar char="●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apt install libmsquic=1.9*</a:t>
            </a:r>
            <a:endParaRPr lang="en-US" sz="1100" dirty="0"/>
          </a:p>
          <a:p>
            <a:pPr marL="342900" indent="-342900">
              <a:buSzPct val="100000"/>
              <a:buChar char="●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on most modern distros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1371600"/>
            <a:ext cx="2651760" cy="2743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64592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040880" y="16459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7040880" y="20116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6355080" y="242316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HTTP/3 not currently supported</a:t>
            </a:r>
            <a:endParaRPr lang="en-US" sz="1100" dirty="0"/>
          </a:p>
          <a:p>
            <a:pPr marL="342900" indent="-342900">
              <a:buSzPct val="100000"/>
              <a:buChar char="●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Microsoft's Kestrel docs</a:t>
            </a:r>
            <a:endParaRPr lang="en-US" sz="1100" dirty="0"/>
          </a:p>
          <a:p>
            <a:pPr marL="342900" indent="-342900">
              <a:buSzPct val="100000"/>
              <a:buChar char="●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to HTTP/2 automatically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640080" y="42976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Kestrel automatically falls back if the platform doesn't support HTTP/3 — your app keeps running on HTTP/2 or HTTP/1.1.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 &amp; HTTP/3 in .NET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 — KESTREL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HTTP/3 on the server in 4 lines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108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39903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139903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05256" y="139903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78638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builder = WebApplication.CreateBuilder(args);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builder.WebHost.ConfigureKestrel(options =&gt;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options.ListenAnyIP(5001, listen =&gt;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listen.Protocols = HttpProtocols.Http1AndHttp2AndHttp3;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listen.UseHttps("cert.pfx", "password");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app = builder.Build();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app.MapGet("/", () =&gt; "Hello, QUIC!");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app.Run();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4526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Http1AndHttp2AndHttp3 turns on all three — Kestrel negotiates the highest version each client supports.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 &amp; HTTP/3 in .NET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 — HTTPCLIENT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client side: ask for HTTP/3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2560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39903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139903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05256" y="139903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78638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System.Net;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var client = new HttpClient();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client.DefaultRequestVersion = HttpVersion.Version30;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client.DefaultVersionPolicy = HttpVersionPolicy.RequestVersionOrLower;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Uses HTTP/3 if the server supports it; falls back gracefully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resp = await client.GetAsync("https://localhost:5001/");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Console.WriteLine($"version: {resp.Version}, status: {resp.StatusCode}");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977640"/>
            <a:ext cx="402336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404164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RequestVersionExact
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HTTP/3 only. Fails if the server can't deliver.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3977640"/>
            <a:ext cx="4023360" cy="685800"/>
          </a:xfrm>
          <a:prstGeom prst="rect">
            <a:avLst/>
          </a:prstGeom>
          <a:solidFill>
            <a:srgbClr val="CFFAFE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00600" y="404164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RequestVersionOrLower
</a:t>
            </a:r>
            <a:r>
              <a:rPr lang="en-US" sz="10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HTTP/3, fall back to HTTP/2 or HTTP/1.1. Best for production.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 &amp; HTTP/3 in .NET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2 — RAW QUIC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QuicListener: server-side QUIC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5204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39903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139903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05256" y="139903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7863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(!QuicListener.IsSupported) return;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listener = await QuicListener.ListenAsync(new()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ListenEndPoint = new IPEndPoint(IPAddress.Any, 5001),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ApplicationProtocols = [new SslApplicationProtocol("h3")],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ConnectionOptionsCallback = (_, _, _) =&gt; ValueTask.FromResult(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 QuicServerConnectionOptions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ServerAuthenticationOptions = new()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ApplicationProtocols = [new SslApplicationProtocol("h3")],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ServerCertificate = cert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(true)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 = HandleAsync(await listener.AcceptConnectionAsync());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 &amp; HTTP/3 in .NET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2 — RAW QUIC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QuicConnection: the client side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5204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39903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139903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05256" y="139903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7863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clientOpts = new QuicClientConnectionOptions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RemoteEndPoint = new IPEndPoint(IPAddress.Loopback, 5001),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MaxInboundUnidirectionalStreams = 10,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MaxInboundBidirectionalStreams  = 100,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ClientAuthenticationOptions = new()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ApplicationProtocols = [new SslApplicationProtocol("h3")],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TargetHost = ""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using var connection =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QuicConnection.ConnectAsync(clientOpts);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using var stream = await connection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.OpenOutboundStreamAsync(QuicStreamType.Bidirectional);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inbound stream limits are part of QUIC flow control — your peer respects them.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 &amp; HTTP/3 in .NET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3 — STREAMS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QuicStream: real multiplexing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5204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39903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139903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05256" y="139903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7863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Server: accept streams; handle each independently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async Task HandleAsync(QuicConnection conn)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(conn.Connected)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 = Process(await conn.AcceptInboundStreamAsync());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Client: three parallel streams on one connection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telemetry = await conn.OpenOutboundStreamAsync(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QuicStreamType.Unidirectional);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fileXfer  = await conn.OpenOutboundStreamAsync(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QuicStreamType.Unidirectional);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control   = await conn.OpenOutboundStreamAsync(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QuicStreamType.Bidirectional);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Task.WhenAll(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SendTelemetry(telemetry),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UploadFile(fileXfer),     // won't block the others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HandleControl(control));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stream gets its own flow control and loss recovery. The large file never holds up the heartbeat.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 &amp; HTTP/3 in .NET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QUIC IN .NET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HttpClient or QuicConnection? A decision guide.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3291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023360" cy="5486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HttpClient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6184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almost everything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3566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APIs over HTTP/3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 calls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and gRPC clients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want fallback to HTTP/2 / HTTP/1.1 for free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don't need to control individual streams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17720" y="1325880"/>
            <a:ext cx="4023360" cy="3291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17720" y="1325880"/>
            <a:ext cx="4023360" cy="5486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3716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QuicConnection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16184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need direct control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2057400"/>
            <a:ext cx="3566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protocols on top of QUIC (no HTTP)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Multiplayer game servers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messaging / pub-sub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need to open and manage streams yourself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application protocol isn't "h3"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 &amp; HTTP/3 in .NET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26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PERFORMANCE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HTTP/3 vs HTTP/2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5204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39903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139903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05256" y="139903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7863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Task Measure(Version v, int count)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using var handler = new SocketsHttpHandler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DefaultRequestVersion = v,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DefaultVersionPolicy = HttpVersionPolicy.RequestVersionExact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using var client = new HttpClient(handler);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sw = Stopwatch.StartNew();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tasks = Enumerable.Range(0, count)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.Select(_ =&gt; client.GetAsync("https://localhost:5001/api"));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Task.WhenAll(tasks);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Console.WriteLine($"{v}: {count} reqs in {sw.ElapsedMilliseconds}ms");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Measure(HttpVersion.Version20, 50);   // HTTP/2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Measure(HttpVersion.Version30, 50);   // HTTP/3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 &amp; HTTP/3 in .NET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26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PERFORMANCE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HTTP/3 wins (illustrative results)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28016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217920" y="1371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expect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217920" y="1901952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0" y="1783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Negligible difference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0" y="2057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clean, low-latency wired networks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217920" y="2679192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00800" y="25603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HTTP/3 win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0" y="28346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packet loss climbs — independent streams stop blocking each other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217920" y="3456432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00800" y="33375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Dramatic HTTP/3 win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0" y="36118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network changes — TCP reconnects, QUIC migrates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217920" y="4233672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00800" y="4114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0-RTT resumption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00800" y="43891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shaves a full round trip on repeat connections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shown are illustrative — measure on your workload.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 &amp; HTTP/3 in .NET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26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APPLICATIONS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QUIC genuinely changes the game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548640" cy="548640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7099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Multiplayer game servers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17320" y="20116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streams let chat, position updates, and asset downloads coexist. A dropped position update can't pause the chat.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17720" y="1325880"/>
            <a:ext cx="402336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846320" y="1600200"/>
            <a:ext cx="548640" cy="548640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170992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&amp; file transfer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577840" y="20116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large files on dedicated streams alongside metadata and control channels. Throughput stays high under loss.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3108960"/>
            <a:ext cx="402336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85800" y="3383280"/>
            <a:ext cx="548640" cy="548640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349300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383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APIs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417320" y="37947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migration keeps sessions alive across Wi-Fi/cellular handoff. 1-RTT setup matters most where RTT is highest.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617720" y="3108960"/>
            <a:ext cx="402336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846320" y="3383280"/>
            <a:ext cx="548640" cy="548640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349300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77840" y="3383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Low-latency APIs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577840" y="37947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handshake cost and 0-RTT resumption are wins for chatty backend-to-backend calls and edge workloads.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 &amp; HTTP/3 in .NET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OPERATIONS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don't burn bridges to HTTP/2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937760" cy="3108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39903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139903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05256" y="139903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45720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Server: advertise all three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listenOptions.Protocols =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HttpProtocols.Http1AndHttp2AndHttp3;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Client: prefer HTTP/3, allow downgrade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var client = new HttpClient(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SocketsHttpHandler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SslProtocols = SslProtocols.Tls13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DefaultRequestVersion = HttpVersion.Version30,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DefaultVersionPolicy =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HttpVersionPolicy.RequestVersionOrLower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577840" y="1371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negotiation works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577840" y="1783080"/>
            <a:ext cx="292608" cy="29260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577840" y="1783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89320" y="176479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connects over TLS / HTTP/2 first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77840" y="2286000"/>
            <a:ext cx="292608" cy="29260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57784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89320" y="226771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replies with an Alt-Svc header advertising h3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77840" y="2788920"/>
            <a:ext cx="292608" cy="29260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577840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89320" y="277063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retries on QUIC for next requests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77840" y="3291840"/>
            <a:ext cx="292608" cy="29260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57784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89320" y="327355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QUIC fails (firewall, OS, etc.) client stays on HTTP/2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 &amp; HTTP/3 in .NET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OPERATIONS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HTTP/3 (because you will need to)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44752"/>
            <a:ext cx="502920" cy="502920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545336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3258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alt-svc response header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88720" y="16459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h3 in DevTools → Network. Most browsers gate HTTP/3 on localhost — test against a real hostname.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2221992"/>
            <a:ext cx="502920" cy="502920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2322576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1031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Kestrel connection logging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188720" y="24231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listenOptions.UseConnectionLogging() plus a Debug log level on Microsoft.AspNetCore surfaces protocol negotiation.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02920" y="2999232"/>
            <a:ext cx="502920" cy="502920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3099816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28803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W3C logging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188720" y="32004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AddW3CLogging captures protocol version per request. Great for confirming HTTP/3 in staging without a debugger.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02920" y="3776472"/>
            <a:ext cx="502920" cy="502920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" y="3877056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36576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certificates and TLS 1.3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188720" y="39776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Self-signed dev certs are fine locally, but HTTP/3 requires TLS 1.3. Make sure your prod CA chain supports it.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 &amp; HTTP/3 in .NET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13441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 isn't a future protocol — it's the protocol your users are already on.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66420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Google, Cloudflare, and Microsoft run it at scale today, and it's in .NET 8 and 10 right now.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371600" y="21214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it on in Kestrel with one line.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44144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HttpProtocols.Http1AndHttp2AndHttp3 — the platform handles negotiation and fallback for you.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371600" y="28986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wins compound under stress.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321868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Multiplexing, connection migration, and 1-RTT TLS pay off most on lossy, mobile, and high-latency paths.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6576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371600" y="36758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System.Net.Quic when HTTP isn't your protocol.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99592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Games, real-time messaging, custom transports — QuicListener / QuicConnection / QuicStream give you the raw protocol.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 &amp; HTTP/3 in .NET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274320"/>
            <a:ext cx="3657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657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005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talk QUIC.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 deeper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3730752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3611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csharp-networking.com  ·  the book site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005072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3886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leanpub.com/csharp-networking  ·  digital edition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279392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9000  ·  the QUIC specification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553712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learn.microsoft.com/aspnet/core/fundamentals/servers/kestrel/http3</a:t>
            </a:r>
            <a:endParaRPr lang="en-US" sz="1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9139B82-4F5B-1219-63AF-7A20D65032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4938" y="559708"/>
            <a:ext cx="3160295" cy="31710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1048</TotalTime>
  <Words>2808</Words>
  <Application>Microsoft Macintosh PowerPoint</Application>
  <PresentationFormat>On-screen Show (16:9)</PresentationFormat>
  <Paragraphs>474</Paragraphs>
  <Slides>28</Slides>
  <Notes>27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Aptos SemiBold</vt:lpstr>
      <vt:lpstr>Arial</vt:lpstr>
      <vt:lpstr>Calibri</vt:lpstr>
      <vt:lpstr>Consolas</vt:lpstr>
      <vt:lpstr>Office Theme</vt:lpstr>
      <vt:lpstr>QUIC and HTTP/3 in .NET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 and HTTP/3 in .NET</dc:title>
  <dc:subject>PptxGenJS Presentation</dc:subject>
  <dc:creator>Chris Woody Woodruff</dc:creator>
  <cp:lastModifiedBy>Chris Woodruff</cp:lastModifiedBy>
  <cp:revision>3</cp:revision>
  <dcterms:created xsi:type="dcterms:W3CDTF">2026-05-13T23:23:02Z</dcterms:created>
  <dcterms:modified xsi:type="dcterms:W3CDTF">2026-05-27T10:15:46Z</dcterms:modified>
</cp:coreProperties>
</file>