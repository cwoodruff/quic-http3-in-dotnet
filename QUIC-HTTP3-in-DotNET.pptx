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82" r:id="rId2"/>
    <p:sldId id="256" r:id="rId3"/>
    <p:sldId id="283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49"/>
    <p:restoredTop sz="94610"/>
  </p:normalViewPr>
  <p:slideViewPr>
    <p:cSldViewPr snapToGrid="0" snapToObjects="1">
      <p:cViewPr varScale="1">
        <p:scale>
          <a:sx n="212" d="100"/>
          <a:sy n="212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426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0B1426"/>
                </a:solidFill>
                <a:latin typeface="Calibri"/>
              </a:rPr>
              <a:t>Time to complete 50 concurrent requests (ms)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HTTP/2 (TCP)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 loss</c:v>
                </c:pt>
                <c:pt idx="1">
                  <c:v>1% loss</c:v>
                </c:pt>
                <c:pt idx="2">
                  <c:v>5% loss</c:v>
                </c:pt>
                <c:pt idx="3">
                  <c:v>Network switch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</c:v>
                </c:pt>
                <c:pt idx="1">
                  <c:v>410</c:v>
                </c:pt>
                <c:pt idx="2">
                  <c:v>880</c:v>
                </c:pt>
                <c:pt idx="3">
                  <c:v>1500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D7-8B43-907B-FF8D220937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HTTP/3 (QUIC)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 loss</c:v>
                </c:pt>
                <c:pt idx="1">
                  <c:v>1% loss</c:v>
                </c:pt>
                <c:pt idx="2">
                  <c:v>5% loss</c:v>
                </c:pt>
                <c:pt idx="3">
                  <c:v>Network switch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180</c:v>
                </c:pt>
                <c:pt idx="1">
                  <c:v>220</c:v>
                </c:pt>
                <c:pt idx="2">
                  <c:v>340</c:v>
                </c:pt>
                <c:pt idx="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D7-8B43-907B-FF8D220937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0185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8651" y="1646265"/>
            <a:ext cx="4071443" cy="628675"/>
          </a:xfrm>
        </p:spPr>
        <p:txBody>
          <a:bodyPr anchor="ctr">
            <a:noAutofit/>
          </a:bodyPr>
          <a:lstStyle>
            <a:lvl1pPr algn="l">
              <a:defRPr sz="3300">
                <a:solidFill>
                  <a:schemeClr val="bg1"/>
                </a:solidFill>
                <a:latin typeface="Aptos SemiBold" panose="020B0004020202020204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Type your </a:t>
            </a:r>
            <a:r>
              <a:rPr lang="en-US" dirty="0" err="1"/>
              <a:t>ti</a:t>
            </a:r>
            <a:r>
              <a:rPr lang="cs-CZ" dirty="0"/>
              <a:t>t</a:t>
            </a:r>
            <a:r>
              <a:rPr lang="en-US" dirty="0"/>
              <a:t>le here</a:t>
            </a:r>
            <a:endParaRPr lang="cs-CZ" dirty="0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1032" y="3573674"/>
            <a:ext cx="4068985" cy="366105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FDAD00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cs-CZ" dirty="0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4000670"/>
            <a:ext cx="4068985" cy="628675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Job title, Company</a:t>
            </a:r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2390906"/>
            <a:ext cx="4071938" cy="5334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dirty="0" err="1"/>
              <a:t>Lorem</a:t>
            </a:r>
            <a:r>
              <a:rPr lang="cs-CZ" dirty="0"/>
              <a:t> </a:t>
            </a:r>
            <a:r>
              <a:rPr lang="cs-CZ" dirty="0" err="1"/>
              <a:t>Ipsum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52F2B4B5-C848-AAA5-590E-62C955AA59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67" y="721837"/>
            <a:ext cx="2387806" cy="44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2729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4741" y="1651317"/>
            <a:ext cx="5196229" cy="628675"/>
          </a:xfrm>
        </p:spPr>
        <p:txBody>
          <a:bodyPr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and HTTP/3 in .NET</a:t>
            </a:r>
            <a:endParaRPr lang="cs-CZ" dirty="0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cs-CZ" dirty="0" err="1"/>
              <a:t>Founder</a:t>
            </a:r>
            <a:r>
              <a:rPr lang="cs-CZ" dirty="0"/>
              <a:t>, Woody Technology </a:t>
            </a:r>
            <a:r>
              <a:rPr lang="cs-CZ"/>
              <a:t>Studio LLC</a:t>
            </a:r>
            <a:endParaRPr lang="cs-CZ" dirty="0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8650" y="2390906"/>
            <a:ext cx="4549582" cy="533400"/>
          </a:xfrm>
        </p:spPr>
        <p:txBody>
          <a:bodyPr/>
          <a:lstStyle/>
          <a:p>
            <a:r>
              <a:rPr lang="en-US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Fast, Secure Networking</a:t>
            </a:r>
            <a:endParaRPr lang="en-US" dirty="0"/>
          </a:p>
          <a:p>
            <a:endParaRPr lang="cs-CZ" dirty="0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cs-CZ" dirty="0"/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51598" y="-348"/>
            <a:ext cx="7092402" cy="228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3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.NET DEVELOPER'S GUIDE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and HTTP/3 in .NET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Fast, Secure Networking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64008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Woody Woodruff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Woody Technology Studio LLC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AUTHOR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wrote the book on this.</a:t>
            </a:r>
            <a:endParaRPr lang="en-US" sz="3000" dirty="0"/>
          </a:p>
        </p:txBody>
      </p:sp>
      <p:pic>
        <p:nvPicPr>
          <p:cNvPr id="4" name="Image 0" descr="cover-resized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325880"/>
            <a:ext cx="219456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91840" y="13258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Boundaries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32918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Programming with C# 12 and .NET 8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91840" y="2331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tour of network programming in modern .NET — sockets, HTTP, WebSockets, gRPC, SignalR, MQTT, and the complete QUIC and HTTP/3 story behind today's talk.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3520440"/>
            <a:ext cx="5486400" cy="59436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291840" y="3520440"/>
            <a:ext cx="64008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474720" y="352044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this summer:  </a:t>
            </a: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updated edition for .NET 10 and C# 14.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437083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474720" y="4297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464515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474720" y="4572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LeanPub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TALK MATTERS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starting to feel its age.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TCP's original spec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an internet that doesn't exist anymore. Built for wired terminals, not multi-network mobile devices.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RTT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832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 start talking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handshake + TLS negotiation before a single byte of your payload moves. Painful at high latency.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436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packet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1264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stall everything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head-of-line blocking: lose one TCP packet and every multiplexed stream waits.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feel it. Mobile users feel it most. QUIC was designed to fix it.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in the next 45 minutes.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QUIC actually 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6642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foundation, integrated TLS 1.3, the design ideas behind 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84832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vs TCP, HTTP/3 vs HTTP/2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28600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Head-of-line blocking, handshake cost, connection migration.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06624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6151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in .NET 8 and 10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290779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Kestrel, HttpClient, and the System.Net.Quic namespace.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23697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demos and code walkthroughs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5295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QuicListener, QuicConnection, QuicStream — and a benchmark.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Performance, fallback, and pitfalls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41513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HTTP/3 wins, when it falls back, how to debug it.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BASICS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QUIC?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UDP Internet Connections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transport protocol designed to replace TCP for HTTP/3. Built on UDP, but with reliability, flow control, encryption, and multiplexing built directly into the protocol — not bolted on as separate layers.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by Google, Cloudflare, and Microsoft — and shipping in .NET 8 and 10 today.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60720" y="1280160"/>
            <a:ext cx="2926080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0" y="1280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60720" y="1947672"/>
            <a:ext cx="2926080" cy="5943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60720" y="194767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(with TLS 1.3)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0" y="2615184"/>
            <a:ext cx="2926080" cy="594360"/>
          </a:xfrm>
          <a:prstGeom prst="rect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0" y="261518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760720" y="3282696"/>
            <a:ext cx="2926080" cy="5943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32826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60720" y="3950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HTTP/3 stack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BASICS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QUIC's four superpowers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0992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1-RTT handshake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417320" y="2039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setup and TLS 1.3 cryptographic setup happen in a single round trip. 0-RTT on reconnects.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1772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17720" y="132588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70992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streams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577840" y="2039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many streams in one connection. A lost packet in one stream doesn't stall the others.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310896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49300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417320" y="38221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connection IDs instead of IP:port. Wi-Fi to cellular handoff happens without dropping the connection.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61772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617720" y="310896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89204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3493008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is mandatory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5577840" y="38221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is built into the protocol. Headers and payload encrypted from packet one. No insecure mode exists.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here: the HTTP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62179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4416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Request-response, text-based, one connection per request.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680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0416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0416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556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connections, pipelining, chunked transfer.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944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7680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7680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4820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framing, multiplexing on TCP, HPACK header compression.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62088" y="2624328"/>
            <a:ext cx="237744" cy="237744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4944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2084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QUIC. No head-of-line blocking. Integrated TLS 1.3. Connection migration.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is the first version to break away from TCP — and that's the whole story.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vs HTTP/3, side by side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07238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 (UDP-based)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 (TCP + TLS)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Single-step (QUIC + TLS 1.3)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Head-of-line 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by 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Eliminated via multiplexing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Multiplexing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blocked by TCP losses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Truly independent streams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migration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 (tied to IP:port)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 via connection IDs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TLS layer on top of 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TLS 1.3 integrated into 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latency from TCP overhead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latency, faster 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handshake: 3 round trips vs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+ TLS 1.2/1.3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9110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233172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1854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SYN/ACK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260604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4597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+ ClientHello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7340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ServerHello + cert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" y="315468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008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342900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282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38328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36027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(finally)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round trips before any payload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(TLS 1.3 built in)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41248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029200" y="2331720"/>
            <a:ext cx="3383280" cy="0"/>
          </a:xfrm>
          <a:prstGeom prst="line">
            <a:avLst/>
          </a:prstGeom>
          <a:noFill/>
          <a:ln w="12700">
            <a:solidFill>
              <a:srgbClr val="0E749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20640" y="21854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+ ClientHello + 0-RTT?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788920"/>
            <a:ext cx="3383280" cy="0"/>
          </a:xfrm>
          <a:prstGeom prst="line">
            <a:avLst/>
          </a:prstGeom>
          <a:noFill/>
          <a:ln w="12700">
            <a:solidFill>
              <a:srgbClr val="0E749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20640" y="26426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+ ServerHello + Finished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0" y="3246120"/>
            <a:ext cx="338328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12064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round trip — and 0-RTT on resume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head-of-line blocking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over TCP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TCP byte stream carries all streams.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88920" y="224028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224028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8308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0" y="2743200"/>
            <a:ext cx="411480" cy="3200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88920" y="274320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91840" y="274320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8016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78308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88920" y="324612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91840" y="324612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703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28016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8308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8600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88920" y="374904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91840" y="374904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4389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one lost packet stalls every stream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over QUIC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stream has its own loss recovery.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08076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58368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08660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8952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5488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B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8076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583680" y="2743200"/>
            <a:ext cx="411480" cy="3200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08660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58952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54880" y="3200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7784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8076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58368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8660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58952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54880" y="3703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7784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08076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58368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08660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58952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54880" y="4389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only stream B retransmits; A, C, D keep flowing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 without dropping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20116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874520"/>
            <a:ext cx="9144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0" y="13716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ties a connection to an IP and port. Change networks, lose the connection.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08960" y="20574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uses a connection ID that travels with the client. When your phone walks out the office Wi-Fi range and switches to LTE, QUIC sees the new source address, validates it, and keeps the same streams flowing.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9502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calls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832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395020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776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streaming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95020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7208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API clients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in .NET 8 and 10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· HttpClient · System.Net.Quic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pillars of System.Net.Quic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QuicListener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for incoming QUIC connections. Configure endpoint, certificate, and application protocols (e.g. "h3").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56616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182880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QuicConnection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47472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server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7472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one QUIC connection. Manages connection migration, lifetime, and opens/accepts streams.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2648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12648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82880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QuicStream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30936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30936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or unidirectional streams. Independent loss recovery — true parallelism over one connection.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ship: HTTP/3 OS requirements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11 build 22000+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Windows Server 2022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or later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6459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20624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20624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52044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libmsquic package required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apt install libmsquic=1.9*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on most modern distros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6459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4088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704088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635508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not currently supported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Microsoft's Kestrel docs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HTTP/2 automatically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4008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Kestrel automatically falls back if the platform doesn't support HTTP/3 — your app keeps running on HTTP/2 or HTTP/1.1.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KESTREL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HTTP/3 on the server in 4 lines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builder = WebApplication.CreateBuilder(args);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builder.WebHost.ConfigureKestrel(options =&gt;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options.ListenAnyIP(5001, listen =&gt;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listen.Protocols = HttpProtocols.Http1AndHttp2AndHttp3;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listen.UseHttps("cert.pfx", "password");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app = builder.Build();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app.MapGet("/", () =&gt; "Hello, QUIC!");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app.Run();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Http1AndHttp2AndHttp3 turns on all three — Kestrel negotiates the highest version each client supports.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HTTPCLIENT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client side: ask for HTTP/3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System.Net;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client = new HttpClient();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client.DefaultRequestVersion = HttpVersion.Version30;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client.DefaultVersionPolicy = HttpVersionPolicy.RequestVersionOrLower;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Uses HTTP/3 if the server supports it; falls back gracefully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await client.GetAsync("https://localhost:5001/");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Console.WriteLine($"version: {resp.Version}, status: {resp.StatusCode}");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402336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404164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RequestVersionExact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HTTP/3 only. Fails if the server can't deliver.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3977640"/>
            <a:ext cx="4023360" cy="685800"/>
          </a:xfrm>
          <a:prstGeom prst="rect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404164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RequestVersionOrLower
</a:t>
            </a: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HTTP/3, fall back to HTTP/2 or HTTP/1.1. Best for production.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RAW QUIC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QuicListener: server-side QUIC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(!QuicListener.IsSupported) return;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listener = await QuicListener.ListenAsync(new()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ListenEndPoint = new IPEndPoint(IPAddress.Any, 5001),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ConnectionOptionsCallback = (_, _, _) =&gt; ValueTask.FromResult(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QuicServerConnectionOptions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ServerAuthenticationOptions = 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ServerCertificate = cert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(true)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 = HandleAsync(await listener.AcceptConnectionAsync());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RAW QUIC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QuicConnection: the client side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clientOpts = new QuicClientConnectionOptions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RemoteEndPoint = new IPEndPoint(IPAddress.Loopback, 5001),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MaxInboundUnidirectionalStreams = 10,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MaxInboundBidirectionalStreams  = 100,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ClientAuthenticationOptions = 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TargetHost = ""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using var connection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QuicConnection.ConnectAsync(clientOpts);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using var stream = await connection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.OpenOutboundStreamAsync(QuicStreamType.Bidirectional);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inbound stream limits are part of QUIC flow control — your peer respects them.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— STREAMS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QuicStream: real multiplexing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Server: accept streams; handle each independently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async Task HandleAsync(QuicConnection conn)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(conn.Connected)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 = Process(await conn.AcceptInboundStreamAsync());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Client: three parallel streams on one connection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telemetry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QuicStreamType.Unidirectional);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fileXfer 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QuicStreamType.Unidirectional);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control  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QuicStreamType.Bidirectional);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Task.WhenAll(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SendTelemetry(telemetry),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UploadFile(fileXfer),     // won't block the others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HandleControl(control));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stream gets its own flow control and loss recovery. The large file never holds up the heartbeat.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or QuicConnection? A decision guide.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91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5486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HttpClient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6184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almost everything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566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APIs over HTTP/3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calls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and gRPC clients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fallback to HTTP/2 / HTTP/1.1 for free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don't need to control individual streams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25880"/>
            <a:ext cx="4023360" cy="3291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17720" y="1325880"/>
            <a:ext cx="4023360" cy="548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QuicConnection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6184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direct control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92040" y="2057400"/>
            <a:ext cx="3566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protocols on top of QUIC (no HTTP)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game servers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 / pub-sub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to open and manage streams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application protocol isn't "h3"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HTTP/3 vs HTTP/2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 Measure(Version v, int count)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handler = new SocketsHttpHandler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DefaultRequestVersion = v,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DefaultVersionPolicy = HttpVersionPolicy.RequestVersionExact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client = new HttpClient(handler);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sw = Stopwatch.StartNew();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tasks = Enumerable.Range(0, count)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.Select(_ =&gt; client.GetAsync("https://localhost:5001/api"));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Task.WhenAll(tasks);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Console.WriteLine($"{v}: {count} reqs in {sw.ElapsedMilliseconds}ms");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Measure(HttpVersion.Version20, 50);   // HTTP/2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Measure(HttpVersion.Version30, 50);   // HTTP/3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HTTP/3 wins (illustrative results)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8016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21792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0" y="190195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difference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clean, low-latency wired networks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17920" y="267919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0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HTTP/3 win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packet loss climbs — independent streams stop blocking each other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345643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0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 HTTP/3 win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0" y="36118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network changes — TCP reconnects, QUIC migrates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423367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00800" y="4114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0-RTT resumption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0" y="4389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shaves a full round trip on repeat connections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shown are illustrative — measure on your workload.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APPLICATIONS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QUIC genuinely changes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09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game servers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011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streams let chat, position updates, and asset downloads coexist. A dropped position update can't pause the chat.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1772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4632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17099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file transfer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77840" y="2011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large files on dedicated streams alongside metadata and control channels. Throughput stays high under loss.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8580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4930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APIs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1732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 keeps sessions alive across Wi-Fi/cellular handoff. 1-RTT setup matters most where RTT is highest.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1772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84632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4930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APIs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77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handshake cost and 0-RTT resumption are wins for chatty backend-to-backend calls and edge workloads.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don't burn bridges to HTTP/2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31089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Server: advertise all three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listenOptions.Protocols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HttpProtocols.Http1AndHttp2AndHttp3;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Client: prefer HTTP/3, allow downgrade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client = new HttpClient(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SocketsHttpHandler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SslProtocols = SslProtocols.Tls13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DefaultRequestVersion = HttpVersion.Version30,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DefaultVersionPolicy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HttpVersionPolicy.RequestVersionOrLower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negotiation works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178308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57784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89320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connects over TLS / HTTP/2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28600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677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 with an Alt-Svc header advertising h3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278892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7784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89320" y="2770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retries on QUIC for next requests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329184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7784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89320" y="3273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QUIC fails (firewall, OS, etc.) client stays on HTTP/2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HTTP/3 (because you will need to)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54533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alt-svc response header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88720" y="1645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h3 in DevTools → Network. Most browsers gate HTTP/3 on localhost — test against a real hostname.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222199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22576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1031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Kestrel connection logging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88720" y="24231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listenOptions.UseConnectionLogging() plus a Debug log level on Microsoft.AspNetCore surfaces protocol negotiation.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02920" y="299923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3099816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880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W3C logging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188720" y="32004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AddW3CLogging captures protocol version per request. Great for confirming HTTP/3 in staging without a debugger.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02920" y="377647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3877056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6576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certificates and TLS 1.3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18872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Self-signed dev certs are fine locally, but HTTP/3 requires TLS 1.3. Make sure your prod CA chain supports it.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7160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isn't a future protocol — it's the protocol your users are already 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6642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Cloudflare, and Microsoft run it at scale today, and it's in .NET 8 and 10 right now.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on in Kestrel with one line.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4414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HttpProtocols.Http1AndHttp2AndHttp3 — the platform handles negotiation and fallback for you.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71600" y="28986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wins compound under stress.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2186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Multiplexing, connection migration, and 1-RTT TLS pay off most on lossy, mobile, and high-latency paths.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71600" y="36758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System.Net.Quic when HTTP isn't your protocol.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9959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Games, real-time messaging, custom transports — QuicListener / QuicConnection / QuicStream give you the raw protocol.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-274320"/>
            <a:ext cx="3657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 QUIC.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  ·  the book site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00507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leanpub.com/csharp-networking  ·  digital edition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27939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9000  ·  the QUIC specification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55371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learn.microsoft.com/aspnet/core/fundamentals/servers/kestrel/http3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139B82-4F5B-1219-63AF-7A20D6503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938" y="559708"/>
            <a:ext cx="3160295" cy="31710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2808</Words>
  <Application>Microsoft Macintosh PowerPoint</Application>
  <PresentationFormat>On-screen Show (16:9)</PresentationFormat>
  <Paragraphs>474</Paragraphs>
  <Slides>28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 SemiBold</vt:lpstr>
      <vt:lpstr>Arial</vt:lpstr>
      <vt:lpstr>Calibri</vt:lpstr>
      <vt:lpstr>Consolas</vt:lpstr>
      <vt:lpstr>Office Theme</vt:lpstr>
      <vt:lpstr>QUIC and HTTP/3 in .NET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 and HTTP/3 in .NET</dc:title>
  <dc:subject>PptxGenJS Presentation</dc:subject>
  <dc:creator>Chris Woody Woodruff</dc:creator>
  <cp:lastModifiedBy>Chris Woodruff</cp:lastModifiedBy>
  <cp:revision>4</cp:revision>
  <dcterms:created xsi:type="dcterms:W3CDTF">2026-05-13T23:23:02Z</dcterms:created>
  <dcterms:modified xsi:type="dcterms:W3CDTF">2026-05-28T09:24:51Z</dcterms:modified>
</cp:coreProperties>
</file>